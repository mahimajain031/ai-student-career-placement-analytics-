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94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 AI-Powered Student Career &amp; Placement Analytics. 12,000-student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— 9 sections covering the full project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Executive Summary: 3-phase project — cleaning, EDA, dashboard. 39/39 tests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Dataset: 12,000 rows, zero quality issues. company_type/package_lpa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EDA: 3,652 placed (30.4%), 8,348 not placed (69.6%). Class imbalance 2.3:1.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Deterministic rule: coding&gt;=5 AND aptitude&gt;=60 AND cgpa&gt;=6.5 → placed=1. 100% accuracy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Correlations: coding r=0.463, aptitude r=0.390, cgpa r=0.265 (all p&lt;0.001). Others not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 Gaps: aptitude +14.7, coding +2.9, cgpa +0.7 significant. All others near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Segment Analysis: degree/branch spread only 3pp. Root causes: coding&lt;5 alone = 29.4% of non-placements.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Dashboard: 6 pages, Streamlit + Plotly. Session state connects Assessment to Career Advisor.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File structure: app.py + 6 pages + 3 utils + data + docs. All 15 project files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Technical decisions: rule-based (not ML), no leakage, statistical honesty, caching + session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Testing: 39/39 pass. 4 key limitations: rule is descriptive, dataset gaps, segment uniformity, non-significant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slide. All 6 deliverables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648000"/>
            <a:ext cx="104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PROJECT REPORT  · 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4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AI-Powered Student 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088000"/>
            <a:ext cx="104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93C5FD"/>
                </a:solidFill>
              </a:rPr>
              <a:t>&amp; Placement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240000"/>
            <a:ext cx="10440000" cy="216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3348000"/>
            <a:ext cx="104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Data Foundation  ·  EDA  ·  Streamlit Dashboard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031999"/>
            <a:ext cx="10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Dataset: 12,000 Indian Engineering Students  ·  Python 3.13  ·  Streamlit 1.64  ·  Plotly 7.1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00" y="2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E2761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900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6000" y="1007999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1007999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44000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584000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584000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1620000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Dataset &amp; Data Cleaning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2160000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00" y="2160000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2196000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EDA — Placement Outcome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2736000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00" y="2736000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2772000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The Deterministic Placement 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" y="3311999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00" y="3311999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00" y="3347999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Feature Correlations with Placement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888000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00" y="3888000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000" y="3924000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Skill Gap: Placed vs Not Placed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4464000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00" y="4464000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000" y="4500000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Segment Analysis &amp; Root Causes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" y="5040000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00" y="5040000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0000" y="5076000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Dashboard Implementation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" y="5616000"/>
            <a:ext cx="540000" cy="43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00" y="5616000"/>
            <a:ext cx="5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000" y="5652000"/>
            <a:ext cx="9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F2328"/>
                </a:solidFill>
              </a:rPr>
              <a:t>Technical Design  ·  Testing  · 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972000"/>
            <a:ext cx="108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1F2328"/>
                </a:solidFill>
              </a:rPr>
              <a:t>This project delivers a complete AI-powered analytics platform for understanding student placement outcomes. The pipeline covers three phases:</a:t>
            </a:r>
          </a:p>
          <a:p>
            <a:pPr algn="l"/>
            <a:endParaRPr sz="1600" b="0" i="0">
              <a:solidFill>
                <a:srgbClr val="1F2328"/>
              </a:solidFill>
            </a:endParaRPr>
          </a:p>
          <a:p>
            <a:pPr algn="l"/>
            <a:r>
              <a:rPr sz="1600" b="0" i="0">
                <a:solidFill>
                  <a:srgbClr val="1F2328"/>
                </a:solidFill>
              </a:rPr>
              <a:t>1   Data Cleaning &amp; Validation of a 12,000-student dataset — zero missing values, no duplicates, fully consistent cross-field data.</a:t>
            </a:r>
          </a:p>
          <a:p>
            <a:pPr algn="l"/>
            <a:endParaRPr sz="1600" b="0" i="0">
              <a:solidFill>
                <a:srgbClr val="1F2328"/>
              </a:solidFill>
            </a:endParaRPr>
          </a:p>
          <a:p>
            <a:pPr algn="l"/>
            <a:r>
              <a:rPr sz="1600" b="0" i="0">
                <a:solidFill>
                  <a:srgbClr val="1F2328"/>
                </a:solidFill>
              </a:rPr>
              <a:t>2   Exploratory Data Analysis revealing a deterministic three-factor placement rule that classifies all 12,000 students with 100% accuracy.</a:t>
            </a:r>
          </a:p>
          <a:p>
            <a:pPr algn="l"/>
            <a:endParaRPr sz="1600" b="0" i="0">
              <a:solidFill>
                <a:srgbClr val="1F2328"/>
              </a:solidFill>
            </a:endParaRPr>
          </a:p>
          <a:p>
            <a:pPr algn="l"/>
            <a:r>
              <a:rPr sz="1600" b="0" i="0">
                <a:solidFill>
                  <a:srgbClr val="1F2328"/>
                </a:solidFill>
              </a:rPr>
              <a:t>3   Six-page interactive Streamlit dashboard with per-student eligibility assessment and data-driven career guidance.</a:t>
            </a:r>
          </a:p>
          <a:p>
            <a:pPr algn="l"/>
            <a:endParaRPr sz="1600" b="0" i="0">
              <a:solidFill>
                <a:srgbClr val="1F2328"/>
              </a:solidFill>
            </a:endParaRPr>
          </a:p>
          <a:p>
            <a:pPr algn="l"/>
            <a:r>
              <a:rPr sz="1600" b="0" i="0">
                <a:solidFill>
                  <a:srgbClr val="1F2328"/>
                </a:solidFill>
              </a:rPr>
              <a:t>All findings are grounded in the dataset. No synthetic data or unsupported claims are used.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5220000"/>
            <a:ext cx="10800000" cy="7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000" y="5292000"/>
            <a:ext cx="10656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93C5FD"/>
                </a:solidFill>
              </a:rPr>
              <a:t>Key Outcome:  100%-accurate placement predictor  ·  6-page live dashboard  ·  39 / 39 tests passed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Dataset &amp; Data Cleaning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936000"/>
            <a:ext cx="10800000" cy="720000"/>
          </a:xfrm>
          <a:prstGeom prst="rect">
            <a:avLst/>
          </a:prstGeom>
          <a:solidFill>
            <a:srgbClr val="EFF6FF"/>
          </a:solidFill>
        </p:spPr>
        <p:txBody>
          <a:bodyPr wrap="square"/>
          <a:lstStyle/>
          <a:p>
            <a:pPr algn="l"/>
            <a:r>
              <a:rPr sz="1400" b="0" i="0">
                <a:solidFill>
                  <a:srgbClr val="1F2328"/>
                </a:solidFill>
              </a:rPr>
              <a:t>Source file:  Indian_Student_Placement_Dataset_2025.csv  →  12,000 rows  ·  16 columns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Clean file:    student_placement_clean.csv  →  12,000 rows  ·  14 columns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(company_type &amp; package_lpa removed to prevent data leakage in predictive analysis)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80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Data Quality 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2124000"/>
            <a:ext cx="5040000" cy="36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2124000"/>
            <a:ext cx="489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✓  Missing values: 0 (all 16 columns)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2520000"/>
            <a:ext cx="5040000" cy="360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" y="2520000"/>
            <a:ext cx="489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✓  Duplicate student_id: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2916000"/>
            <a:ext cx="5040000" cy="36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000" y="2916000"/>
            <a:ext cx="489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✓  Fully duplicate rows: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3312000"/>
            <a:ext cx="5040000" cy="360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000" y="3312000"/>
            <a:ext cx="489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✓  Numeric range violations: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3708000"/>
            <a:ext cx="5040000" cy="36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000" y="3708000"/>
            <a:ext cx="489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✓  Cross-field consistency: 0 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4104000"/>
            <a:ext cx="5040000" cy="360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000" y="4104000"/>
            <a:ext cx="489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✓  Class balance: 30.4% placed · 69.6%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1800000"/>
            <a:ext cx="54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14 Analysis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2124000"/>
            <a:ext cx="540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2000" y="2124000"/>
            <a:ext cx="52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cgpa (5.50 – 9.80)  ·  aptitude_score (40 – 99)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2520000"/>
            <a:ext cx="540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2000" y="2520000"/>
            <a:ext cx="52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coding_skills (1–10)  ·  communication_skills (1–10)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2916000"/>
            <a:ext cx="540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2000" y="2916000"/>
            <a:ext cx="52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internships (0–3)  ·  certifications (0–5)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000" y="3312000"/>
            <a:ext cx="540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2000" y="3312000"/>
            <a:ext cx="52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projects (0–5)  ·  backlogs (0–3)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0000" y="3708000"/>
            <a:ext cx="540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2000" y="3708000"/>
            <a:ext cx="52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degree: BE / BTech / BCA / BSc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4104000"/>
            <a:ext cx="540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2000" y="4104000"/>
            <a:ext cx="52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branch: CS / IT / DS / AI / Electrical / Mechanical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0000" y="4500000"/>
            <a:ext cx="540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92000" y="4500000"/>
            <a:ext cx="52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gender: Male / Female  ·  age (20–24)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0000" y="4896000"/>
            <a:ext cx="540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2000" y="4896000"/>
            <a:ext cx="52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placed: 0 = Not Placed, 1 = Placed  ←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EDA — Placement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080000"/>
            <a:ext cx="4680000" cy="1980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260000"/>
            <a:ext cx="468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3,652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088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93C5FD"/>
                </a:solidFill>
              </a:rPr>
              <a:t>PLACED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168000"/>
            <a:ext cx="4680000" cy="648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3204000"/>
            <a:ext cx="468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 i="0">
                <a:solidFill>
                  <a:srgbClr val="1D4ED8"/>
                </a:solidFill>
              </a:rPr>
              <a:t>30.4% of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0000" y="1080000"/>
            <a:ext cx="4680000" cy="19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0000" y="1260000"/>
            <a:ext cx="468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8,348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0" y="2088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CA5A5"/>
                </a:solidFill>
              </a:rPr>
              <a:t>NOT PLACED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0000" y="3168000"/>
            <a:ext cx="4680000" cy="648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0000" y="3204000"/>
            <a:ext cx="468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 i="0">
                <a:solidFill>
                  <a:srgbClr val="991B1B"/>
                </a:solidFill>
              </a:rPr>
              <a:t>69.6% of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4140000"/>
            <a:ext cx="10800000" cy="54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000" y="4176000"/>
            <a:ext cx="1065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7606A"/>
                </a:solidFill>
              </a:rPr>
              <a:t>Total Cohort: 12,000 students  ·  Class imbalance ratio: 2.3 :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4824000"/>
            <a:ext cx="10800000" cy="79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000" y="4860000"/>
            <a:ext cx="10656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92400E"/>
                </a:solidFill>
              </a:rPr>
              <a:t>Threshold Pass Rates (% of all 12,000 students):</a:t>
            </a:r>
          </a:p>
          <a:p>
            <a:pPr algn="l"/>
            <a:r>
              <a:rPr sz="1500" b="0" i="0">
                <a:solidFill>
                  <a:srgbClr val="92400E"/>
                </a:solidFill>
              </a:rPr>
              <a:t>Coding Skills &gt;= 5 :  59.9%     |     Aptitude Score &gt;= 60 :  66.4%     |     CGPA &gt;= 6.5 :  76.7%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10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Section 04  ·  Core EDA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44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Deterministic Placement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332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80000" y="1512000"/>
            <a:ext cx="9720000" cy="234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0000" y="1620000"/>
            <a:ext cx="9360000" cy="2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93C5FD"/>
                </a:solidFill>
              </a:rPr>
              <a:t>coding_skills &gt;= 5</a:t>
            </a:r>
          </a:p>
          <a:p>
            <a:pPr algn="l"/>
            <a:r>
              <a:rPr sz="2400" b="1" i="0">
                <a:solidFill>
                  <a:srgbClr val="93C5FD"/>
                </a:solidFill>
              </a:rPr>
              <a:t>AND  aptitude_score &gt;= 60</a:t>
            </a:r>
          </a:p>
          <a:p>
            <a:pPr algn="l"/>
            <a:r>
              <a:rPr sz="2400" b="1" i="0">
                <a:solidFill>
                  <a:srgbClr val="93C5FD"/>
                </a:solidFill>
              </a:rPr>
              <a:t>AND  cgpa &gt;= 6.5</a:t>
            </a:r>
          </a:p>
          <a:p>
            <a:pPr algn="l"/>
            <a:endParaRPr sz="2400" b="1" i="0">
              <a:solidFill>
                <a:srgbClr val="93C5FD"/>
              </a:solidFill>
            </a:endParaRPr>
          </a:p>
          <a:p>
            <a:pPr algn="l"/>
            <a:r>
              <a:rPr sz="2400" b="1" i="0">
                <a:solidFill>
                  <a:srgbClr val="93C5FD"/>
                </a:solidFill>
              </a:rPr>
              <a:t>→  placed = 1   (100% accuracy on 12,000 students)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031999"/>
            <a:ext cx="1044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E2E8F0"/>
                </a:solidFill>
              </a:rPr>
              <a:t>Students missing ANY ONE condition → placed = 0   (0% placement rate)</a:t>
            </a:r>
          </a:p>
          <a:p>
            <a:pPr algn="l"/>
            <a:r>
              <a:rPr sz="1700" b="0" i="0">
                <a:solidFill>
                  <a:srgbClr val="E2E8F0"/>
                </a:solidFill>
              </a:rPr>
              <a:t>Students meeting ALL THREE → placed = 1   (100% in this dataset)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4860000"/>
            <a:ext cx="3600000" cy="1260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4896000"/>
            <a:ext cx="345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3C5FD"/>
                </a:solidFill>
              </a:rPr>
              <a:t>Coding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5220000"/>
            <a:ext cx="345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F4444"/>
                </a:solidFill>
              </a:rPr>
              <a:t>coding &lt; 5 → 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5544000"/>
            <a:ext cx="34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coding ≥ 5 → 50.8%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000" y="4860000"/>
            <a:ext cx="3600000" cy="1260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28000" y="4896000"/>
            <a:ext cx="345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3C5FD"/>
                </a:solidFill>
              </a:rPr>
              <a:t>Aptitude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8000" y="5220000"/>
            <a:ext cx="345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F4444"/>
                </a:solidFill>
              </a:rPr>
              <a:t>aptitude &lt; 60 → 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000" y="5544000"/>
            <a:ext cx="34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aptitude ≥ 60 → 45.9%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6000" y="4860000"/>
            <a:ext cx="3600000" cy="1260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8000" y="4896000"/>
            <a:ext cx="345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3C5FD"/>
                </a:solidFill>
              </a:rPr>
              <a:t>CGPA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8000" y="5220000"/>
            <a:ext cx="345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F4444"/>
                </a:solidFill>
              </a:rPr>
              <a:t>cgpa &lt; 6.5 → 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8000" y="5544000"/>
            <a:ext cx="34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cgpa ≥ 6.5 → 39.7%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Feature Correlations with 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00" y="972000"/>
            <a:ext cx="320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000" y="972000"/>
            <a:ext cx="316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0" y="972000"/>
            <a:ext cx="248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52000" y="972000"/>
            <a:ext cx="244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 (point-biserial)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000" y="972000"/>
            <a:ext cx="194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0" y="972000"/>
            <a:ext cx="190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p-value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16000" y="972000"/>
            <a:ext cx="302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2000" y="972000"/>
            <a:ext cx="29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Significant?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1296000"/>
            <a:ext cx="320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000" y="1296000"/>
            <a:ext cx="316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coding_skills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6000" y="1296000"/>
            <a:ext cx="248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52000" y="1296000"/>
            <a:ext cx="244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+0.463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000" y="1296000"/>
            <a:ext cx="194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2000" y="1296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&lt; 0.001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6000" y="1296000"/>
            <a:ext cx="302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52000" y="1296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YES  ***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" y="1674000"/>
            <a:ext cx="320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000" y="1674000"/>
            <a:ext cx="316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aptitude_score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6000" y="1674000"/>
            <a:ext cx="248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2000" y="1674000"/>
            <a:ext cx="244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+0.390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000" y="1674000"/>
            <a:ext cx="194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2000" y="1674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&lt; 0.001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6000" y="1674000"/>
            <a:ext cx="302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2000" y="1674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YES  ***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00" y="2052000"/>
            <a:ext cx="320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000" y="2052000"/>
            <a:ext cx="316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cgpa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6000" y="2052000"/>
            <a:ext cx="248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52000" y="2052000"/>
            <a:ext cx="244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+0.265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36000" y="2052000"/>
            <a:ext cx="194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2000" y="2052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&lt; 0.001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16000" y="2052000"/>
            <a:ext cx="302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52000" y="2052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YES  ***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00" y="2430000"/>
            <a:ext cx="320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000" y="2430000"/>
            <a:ext cx="316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projects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16000" y="2430000"/>
            <a:ext cx="248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52000" y="2430000"/>
            <a:ext cx="244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-0.023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6000" y="2430000"/>
            <a:ext cx="194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72000" y="2430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0.014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16000" y="2430000"/>
            <a:ext cx="302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52000" y="2430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YES *  (marginal)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00" y="2808000"/>
            <a:ext cx="320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2000" y="2808000"/>
            <a:ext cx="316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internships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16000" y="2808000"/>
            <a:ext cx="248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52000" y="2808000"/>
            <a:ext cx="244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+0.017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36000" y="2808000"/>
            <a:ext cx="194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72000" y="2808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0.070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6000" y="2808000"/>
            <a:ext cx="302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52000" y="2808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00" y="3186000"/>
            <a:ext cx="320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2000" y="3186000"/>
            <a:ext cx="316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certifications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16000" y="3186000"/>
            <a:ext cx="248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52000" y="3186000"/>
            <a:ext cx="244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+0.007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36000" y="3186000"/>
            <a:ext cx="194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72000" y="3186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0.457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16000" y="3186000"/>
            <a:ext cx="302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52000" y="3186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00" y="3564000"/>
            <a:ext cx="320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000" y="3564000"/>
            <a:ext cx="316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communication_skills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6000" y="3564000"/>
            <a:ext cx="248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852000" y="3564000"/>
            <a:ext cx="244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-0.006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36000" y="3564000"/>
            <a:ext cx="194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72000" y="3564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0.545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16000" y="3564000"/>
            <a:ext cx="302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52000" y="3564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00" y="3942000"/>
            <a:ext cx="320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2000" y="3942000"/>
            <a:ext cx="316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backlogs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16000" y="3942000"/>
            <a:ext cx="248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852000" y="3942000"/>
            <a:ext cx="244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-0.001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36000" y="3942000"/>
            <a:ext cx="194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72000" y="3942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0.940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16000" y="3942000"/>
            <a:ext cx="302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52000" y="3942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000" y="4500000"/>
            <a:ext cx="10800000" cy="57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8000" y="4536000"/>
            <a:ext cx="10656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D4ED8"/>
                </a:solidFill>
              </a:rPr>
              <a:t>Only 3 features drive placement.  Backlogs, certifications, communication skills, and internships have NO significant relationship with placement (p &gt; 0.05).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Skill Gap: Placed vs Not Placed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00" y="972000"/>
            <a:ext cx="302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000" y="972000"/>
            <a:ext cx="29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6000" y="972000"/>
            <a:ext cx="194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2000" y="972000"/>
            <a:ext cx="190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Placed Mean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16000" y="972000"/>
            <a:ext cx="212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52000" y="972000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Not-Placed Mean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6000" y="972000"/>
            <a:ext cx="194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2000" y="972000"/>
            <a:ext cx="190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Gap (P − NP)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56000" y="972000"/>
            <a:ext cx="2124000" cy="324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92000" y="972000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1296000"/>
            <a:ext cx="302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000" y="1296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aptitude_score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6000" y="1296000"/>
            <a:ext cx="194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2000" y="1296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79.55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16000" y="1296000"/>
            <a:ext cx="212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52000" y="1296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64.86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6000" y="1296000"/>
            <a:ext cx="194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2000" y="1296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+14.70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56000" y="1296000"/>
            <a:ext cx="212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92000" y="1296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STRONGEST ***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" y="1674000"/>
            <a:ext cx="302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000" y="1674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coding_skills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6000" y="1674000"/>
            <a:ext cx="194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72000" y="1674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7.516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16000" y="1674000"/>
            <a:ext cx="212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52000" y="1674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4.611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6000" y="1674000"/>
            <a:ext cx="194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12000" y="1674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+2.905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56000" y="1674000"/>
            <a:ext cx="2124000" cy="34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92000" y="1674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STRONG ***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00" y="2052000"/>
            <a:ext cx="302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000" y="2052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cgpa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36000" y="2052000"/>
            <a:ext cx="194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2000" y="2052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8.144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16000" y="2052000"/>
            <a:ext cx="212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52000" y="2052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7.427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6000" y="2052000"/>
            <a:ext cx="194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12000" y="2052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+0.717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56000" y="2052000"/>
            <a:ext cx="2124000" cy="34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92000" y="2052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MODERATE ***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00" y="2430000"/>
            <a:ext cx="302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2000" y="2430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communication_skills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36000" y="2430000"/>
            <a:ext cx="194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72000" y="2430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5.476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16000" y="2430000"/>
            <a:ext cx="212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52000" y="2430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5.511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6000" y="2430000"/>
            <a:ext cx="194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12000" y="2430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-0.035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56000" y="2430000"/>
            <a:ext cx="212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92000" y="2430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NOT SIG p=0.55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00" y="2808000"/>
            <a:ext cx="302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2000" y="2808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internships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36000" y="2808000"/>
            <a:ext cx="194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72000" y="2808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1.529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16000" y="2808000"/>
            <a:ext cx="212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52000" y="2808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1.489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6000" y="2808000"/>
            <a:ext cx="194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12000" y="2808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+0.040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6000" y="2808000"/>
            <a:ext cx="212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92000" y="2808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NOT SIG p=0.07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00" y="3186000"/>
            <a:ext cx="302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2000" y="3186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certifications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36000" y="3186000"/>
            <a:ext cx="194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72000" y="3186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2.527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16000" y="3186000"/>
            <a:ext cx="212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652000" y="3186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2.501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6000" y="3186000"/>
            <a:ext cx="194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812000" y="3186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+0.025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56000" y="3186000"/>
            <a:ext cx="2124000" cy="342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792000" y="3186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NOT SIG p=0.46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6000" y="3564000"/>
            <a:ext cx="302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12000" y="3564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projects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36000" y="3564000"/>
            <a:ext cx="194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672000" y="3564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2.447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16000" y="3564000"/>
            <a:ext cx="212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652000" y="3564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2.530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6000" y="3564000"/>
            <a:ext cx="194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812000" y="3564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-0.083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56000" y="3564000"/>
            <a:ext cx="2124000" cy="34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792000" y="3564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MARGINAL p=0.01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6000" y="3942000"/>
            <a:ext cx="302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2000" y="3942000"/>
            <a:ext cx="29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backlogs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36000" y="3942000"/>
            <a:ext cx="194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672000" y="3942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1.490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16000" y="3942000"/>
            <a:ext cx="212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52000" y="3942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1.492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6000" y="3942000"/>
            <a:ext cx="194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812000" y="3942000"/>
            <a:ext cx="190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-0.002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56000" y="3942000"/>
            <a:ext cx="212400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792000" y="3942000"/>
            <a:ext cx="2088000" cy="34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NOT SIG p=0.94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6000" y="4500000"/>
            <a:ext cx="10800000" cy="57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48000" y="4536000"/>
            <a:ext cx="10656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D4ED8"/>
                </a:solidFill>
              </a:rPr>
              <a:t>Coding skills gap (+2.9) and aptitude gap (+14.7) are the only actionable improvement targets. Backlogs, certifications, comm. skills, and internships show zero meaningful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Segment Analysis &amp; Root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936000"/>
            <a:ext cx="108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Placement Rate by Segment  (3.2 pp spread — degree &amp; branch are weak predictors)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260000"/>
            <a:ext cx="1080000" cy="324000"/>
          </a:xfrm>
          <a:prstGeom prst="rect">
            <a:avLst/>
          </a:prstGeom>
          <a:solidFill>
            <a:srgbClr val="1E2761"/>
          </a:solidFill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Degree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0" y="1260000"/>
            <a:ext cx="2160000" cy="324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36000" y="1260000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BSc  31.8%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0000" y="1260000"/>
            <a:ext cx="2160000" cy="324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6000" y="1260000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BE  31.7%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1260000"/>
            <a:ext cx="2160000" cy="324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000" y="1260000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BTech  29.7%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0000" y="1260000"/>
            <a:ext cx="2160000" cy="324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56000" y="1260000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BCA  28.6%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1835999"/>
            <a:ext cx="1080000" cy="324000"/>
          </a:xfrm>
          <a:prstGeom prst="rect">
            <a:avLst/>
          </a:prstGeom>
          <a:solidFill>
            <a:srgbClr val="1E2761"/>
          </a:solidFill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835999"/>
            <a:ext cx="2160000" cy="324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36000" y="1835999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DS  32.1%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40000" y="1835999"/>
            <a:ext cx="2160000" cy="324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76000" y="1835999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5F46"/>
                </a:solidFill>
              </a:rPr>
              <a:t>Mechanical  31.1%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1835999"/>
            <a:ext cx="2160000" cy="324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6000" y="1835999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AI  30.3%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0000" y="1835999"/>
            <a:ext cx="2160000" cy="324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56000" y="1835999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7606A"/>
                </a:solidFill>
              </a:rPr>
              <a:t>IT  29.3%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2412000"/>
            <a:ext cx="1080000" cy="324000"/>
          </a:xfrm>
          <a:prstGeom prst="rect">
            <a:avLst/>
          </a:prstGeom>
          <a:solidFill>
            <a:srgbClr val="1E2761"/>
          </a:solidFill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Gender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0" y="2412000"/>
            <a:ext cx="2160000" cy="324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36000" y="2412000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Female  30.7%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40000" y="2412000"/>
            <a:ext cx="2160000" cy="324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76000" y="2412000"/>
            <a:ext cx="208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F2328"/>
                </a:solidFill>
              </a:rPr>
              <a:t>Male  30.2%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3060000"/>
            <a:ext cx="108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Root Causes of Non-Placement  (n = 8,348)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" y="3420000"/>
            <a:ext cx="2700000" cy="79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000" y="345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Only Coding &lt;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00" y="381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2,457  (29.4%)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4000" y="3420000"/>
            <a:ext cx="2700000" cy="79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38000" y="345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Only Aptitude &lt; 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38000" y="381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1,874  (22.4%)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2000" y="3420000"/>
            <a:ext cx="2700000" cy="79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6000" y="345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Coding + Aptitude 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000" y="381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1,226  (14.7%)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0000" y="3420000"/>
            <a:ext cx="2700000" cy="79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54000" y="345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Only CGPA &lt; 6.5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4000" y="381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1,098  (13.2%)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00" y="4320000"/>
            <a:ext cx="2700000" cy="792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000" y="435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Coding + CGPA Fail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00" y="471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755  (9.0%)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4000" y="4320000"/>
            <a:ext cx="2700000" cy="792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8000" y="435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Aptitude + CGPA Fail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8000" y="471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567  (6.8%)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2000" y="4320000"/>
            <a:ext cx="2700000" cy="792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46000" y="435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 Three Fail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46000" y="4716000"/>
            <a:ext cx="2592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371  (4.4%)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00" y="5256000"/>
            <a:ext cx="10800000" cy="432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8000" y="5292000"/>
            <a:ext cx="1065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91B1B"/>
                </a:solidFill>
              </a:rPr>
              <a:t>Coding skills involved in 57% of all non-placements — the single most actionable improvement target.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Dashboard Implementation — 6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00" y="936000"/>
            <a:ext cx="10800000" cy="57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8000" y="972000"/>
            <a:ext cx="10656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F2328"/>
                </a:solidFill>
              </a:rPr>
              <a:t>Stack: Streamlit 1.64  ·  Plotly 7.1  ·  Pandas 2.3  ·  SciPy 1.16  ·  Python 3.13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Global filters: Degree · Branch · Gender · Age · Placement Status — persisted via st.session_state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728000"/>
            <a:ext cx="5400000" cy="1044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1764000"/>
            <a:ext cx="525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01 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088000"/>
            <a:ext cx="5256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KPI cards · Placement donut · Correlation bar · Segment bars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6000" y="1728000"/>
            <a:ext cx="5400000" cy="1044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28000" y="1764000"/>
            <a:ext cx="525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65F46"/>
                </a:solidFill>
              </a:rPr>
              <a:t>02  Placement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8000" y="2088000"/>
            <a:ext cx="5256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Threshold cliff charts · Distribution bar · Degree×Branch heatmap · Root cause pie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2880000"/>
            <a:ext cx="5400000" cy="1044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000" y="2916000"/>
            <a:ext cx="525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03  Skill Gap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240000"/>
            <a:ext cx="5256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Gap bar · Radar chart · 3 box plots · Scatter (Aptitude × Coding)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000" y="2880000"/>
            <a:ext cx="5400000" cy="1044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8000" y="2916000"/>
            <a:ext cx="525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92400E"/>
                </a:solidFill>
              </a:rPr>
              <a:t>04  Student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8000" y="3240000"/>
            <a:ext cx="5256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Profile form · Eligibility banner · 3 gauge charts · Radar · Percentile bars · Benchmark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4031999"/>
            <a:ext cx="5400000" cy="1044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000" y="4067999"/>
            <a:ext cx="525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991B1B"/>
                </a:solidFill>
              </a:rPr>
              <a:t>05  AI Career Advisor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4391999"/>
            <a:ext cx="5256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Prioritised action cards (red/amber/green) · Progress bars · Benchmark table · Disclaimer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6000" y="4031999"/>
            <a:ext cx="5400000" cy="1044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28000" y="4067999"/>
            <a:ext cx="525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4532D"/>
                </a:solidFill>
              </a:rPr>
              <a:t>06  Data Explorer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8000" y="4391999"/>
            <a:ext cx="5256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Filterable sortable table · Column chooser · On-demand histogram · CSV download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" y="5220000"/>
            <a:ext cx="10800000" cy="64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8000" y="5256000"/>
            <a:ext cx="10656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2761"/>
                </a:solidFill>
              </a:rPr>
              <a:t>Local URL:  http://localhost:8501          Network URL:  http://10.20.141.11:8501</a:t>
            </a:r>
          </a:p>
          <a:p>
            <a:pPr algn="l"/>
            <a:r>
              <a:rPr sz="1400" b="0" i="0">
                <a:solidFill>
                  <a:srgbClr val="1E2761"/>
                </a:solidFill>
              </a:rPr>
              <a:t>Run command:  cd dashboard    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Project File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00" y="972000"/>
            <a:ext cx="396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44000" y="972000"/>
            <a:ext cx="6732000" cy="36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000" y="972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0" y="972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Main entry point, navigation, sidebar filters, session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1368000"/>
            <a:ext cx="396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44000" y="1368000"/>
            <a:ext cx="6732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000" y="1368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pages/1_Overview.py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0" y="1368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Headline KPIs and placement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1764000"/>
            <a:ext cx="396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44000" y="1764000"/>
            <a:ext cx="6732000" cy="36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000" y="1764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pages/2_Placement_Insights.py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0" y="1764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Threshold analysis, segment breakdowns, root causes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2160000"/>
            <a:ext cx="396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44000" y="2160000"/>
            <a:ext cx="6732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000" y="2160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pages/3_Skill_Gap_Analysis.py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000" y="2160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Feature comparisons, radar, scatter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" y="2556000"/>
            <a:ext cx="396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44000" y="2556000"/>
            <a:ext cx="6732000" cy="36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000" y="2556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pages/4_Student_Assessment.py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2556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Per-student eligibility checker and gap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" y="2951999"/>
            <a:ext cx="396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44000" y="2951999"/>
            <a:ext cx="6732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000" y="2951999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pages/5_AI_Career_Advisor.py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0000" y="2951999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Rule-based personalised improvement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00" y="3348000"/>
            <a:ext cx="396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44000" y="3348000"/>
            <a:ext cx="6732000" cy="36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000" y="3348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pages/6_Data_Explorer.py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0000" y="3348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Filterable table, histogram, CSV download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" y="3744000"/>
            <a:ext cx="396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44000" y="3744000"/>
            <a:ext cx="6732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000" y="3744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utils/data_loader.py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0000" y="3744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@st.cache_data, computed columns, filter helpers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00" y="4140000"/>
            <a:ext cx="396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44000" y="4140000"/>
            <a:ext cx="6732000" cy="36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000" y="4140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utils/charts.py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0000" y="4140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16 reusable Plotly chart builders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00" y="4536000"/>
            <a:ext cx="396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644000" y="4536000"/>
            <a:ext cx="6732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000" y="4536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utils/theme.py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0000" y="4536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Colour palette, KPI card CSS, layout constants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00" y="4932000"/>
            <a:ext cx="396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644000" y="4932000"/>
            <a:ext cx="6732000" cy="36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000" y="4932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student_placement_clean.csv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0000" y="4932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Cleaned 12,000-row analysis dataset (14 columns)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00" y="5328000"/>
            <a:ext cx="396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644000" y="5328000"/>
            <a:ext cx="6732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000" y="5328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requirements.txt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0000" y="5328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Python package dependencies (5 libraries)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00" y="5724000"/>
            <a:ext cx="3960000" cy="3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644000" y="5724000"/>
            <a:ext cx="6732000" cy="36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2000" y="5724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README.md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80000" y="5724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Full project documentation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00" y="6120000"/>
            <a:ext cx="3960000" cy="3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44000" y="6120000"/>
            <a:ext cx="6732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000" y="6120000"/>
            <a:ext cx="388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project_report.pdf / .pptx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80000" y="6120000"/>
            <a:ext cx="66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F2328"/>
                </a:solidFill>
              </a:rPr>
              <a:t>This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Technical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00" y="1007999"/>
            <a:ext cx="10800000" cy="28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000" y="1007999"/>
            <a:ext cx="1072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Rule-Based Assessment — Not 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295999"/>
            <a:ext cx="10800000" cy="54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1295999"/>
            <a:ext cx="1065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F2328"/>
                </a:solidFill>
              </a:rPr>
              <a:t>The dataset has a 100%-accurate deterministic rule. An ML model adds zero accuracy gain and unnecessary complexity.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1944000"/>
            <a:ext cx="10800000" cy="28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000" y="1944000"/>
            <a:ext cx="1072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Data Leakage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2232000"/>
            <a:ext cx="10800000" cy="54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000" y="2232000"/>
            <a:ext cx="1065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F2328"/>
                </a:solidFill>
              </a:rPr>
              <a:t>company_type and package_lpa are post-placement outcomes — excluded from the clean dataset to prevent target leakage.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2880000"/>
            <a:ext cx="10800000" cy="28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000" y="2880000"/>
            <a:ext cx="1072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Statistical Honesty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3168000"/>
            <a:ext cx="10800000" cy="54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000" y="3168000"/>
            <a:ext cx="1065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F2328"/>
                </a:solidFill>
              </a:rPr>
              <a:t>Only features with p &lt; 0.001 are highlighted as drivers. Comm. skills, backlogs, certs, internships explicitly labelled non-significant.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3816000"/>
            <a:ext cx="10800000" cy="28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000" y="3816000"/>
            <a:ext cx="1072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@st.cache_data  +  Session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4104000"/>
            <a:ext cx="10800000" cy="54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000" y="4104000"/>
            <a:ext cx="1065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F2328"/>
                </a:solidFill>
              </a:rPr>
              <a:t>CSV loaded and computed once per session. Student profile shared automatically between Assessment and AI Advisor pages.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503999" cy="503999"/>
          </a:xfrm>
          <a:prstGeom prst="rect">
            <a:avLst/>
          </a:prstGeom>
          <a:solidFill>
            <a:srgbClr val="3B82D4"/>
          </a:solidFill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88000"/>
            <a:ext cx="106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Testing, Limitations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864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00" y="1007999"/>
            <a:ext cx="2880000" cy="180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00" y="1224000"/>
            <a:ext cx="288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872000"/>
            <a:ext cx="2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D1FAE5"/>
                </a:solidFill>
              </a:rPr>
              <a:t>TESTS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1999" y="1007999"/>
            <a:ext cx="7703999" cy="1800000"/>
          </a:xfrm>
          <a:prstGeom prst="rect">
            <a:avLst/>
          </a:prstGeom>
          <a:solidFill>
            <a:srgbClr val="F7F8FA"/>
          </a:solidFill>
        </p:spPr>
        <p:txBody>
          <a:bodyPr wrap="square"/>
          <a:lstStyle/>
          <a:p>
            <a:pPr algn="l"/>
            <a:r>
              <a:rPr sz="1400" b="0" i="0">
                <a:solidFill>
                  <a:srgbClr val="1F2328"/>
                </a:solidFill>
              </a:rPr>
              <a:t>Coverage: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• Data load &amp; column dtype validation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• Filter logic (5 filter types)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• Metric calculations (rate, thresholds, percentiles)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• All 16 Plotly chart builder functions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• Student eligibility rule logic</a:t>
            </a:r>
          </a:p>
          <a:p>
            <a:pPr algn="l"/>
            <a:r>
              <a:rPr sz="1400" b="0" i="0">
                <a:solidFill>
                  <a:srgbClr val="1F2328"/>
                </a:solidFill>
              </a:rPr>
              <a:t>• Root-cause consistency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988000"/>
            <a:ext cx="108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Limitations &amp; Caveats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3348000"/>
            <a:ext cx="10800000" cy="4680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000" y="3348000"/>
            <a:ext cx="1065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78350F"/>
                </a:solidFill>
              </a:rPr>
              <a:t>⚠  The 100%-accurate rule is descriptive of this dataset — not a causal or universally valid placement guarantee.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3888000"/>
            <a:ext cx="10800000" cy="468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000" y="3888000"/>
            <a:ext cx="1065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78350F"/>
                </a:solidFill>
              </a:rPr>
              <a:t>⚠  Dataset excludes interview performance, soft-skill tests, and company-specific criteria — important in real placement.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4428000"/>
            <a:ext cx="10800000" cy="4680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000" y="4428000"/>
            <a:ext cx="1065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78350F"/>
                </a:solidFill>
              </a:rPr>
              <a:t>⚠  Degree/branch placement rates are nearly uniform (28.6–32.1%) — segment-based interventions have limited impact.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" y="4968000"/>
            <a:ext cx="10800000" cy="468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000" y="4968000"/>
            <a:ext cx="1065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78350F"/>
                </a:solidFill>
              </a:rPr>
              <a:t>⚠  Comm. skills, backlogs, certifications, and projects show NO statistically significant effect (p &gt; 0.05).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6000" y="720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864000"/>
            <a:ext cx="104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Project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92000"/>
            <a:ext cx="10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93C5FD"/>
                </a:solidFill>
              </a:rPr>
              <a:t>AI-Powered Student Career &amp; Placement Analytics  · 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2160000"/>
            <a:ext cx="10800000" cy="180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2448000"/>
            <a:ext cx="1044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2E8F0"/>
                </a:solidFill>
              </a:rPr>
              <a:t>✓  12,000-student dataset — cleaned, validated, zero quality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988000"/>
            <a:ext cx="1044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2E8F0"/>
                </a:solidFill>
              </a:rPr>
              <a:t>✓  100%-accurate 3-factor deterministic placement rule discovered &amp;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528000"/>
            <a:ext cx="1044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2E8F0"/>
                </a:solidFill>
              </a:rPr>
              <a:t>✓  6-page interactive Streamlit dashboard (live at localhost:8501)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068000"/>
            <a:ext cx="1044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2E8F0"/>
                </a:solidFill>
              </a:rPr>
              <a:t>✓  Per-student assessment + AI career advisor (rule-based, data-grounded)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608000"/>
            <a:ext cx="1044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2E8F0"/>
                </a:solidFill>
              </a:rPr>
              <a:t>✓  39 / 39 integration tests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148000"/>
            <a:ext cx="1044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2E8F0"/>
                </a:solidFill>
              </a:rPr>
              <a:t>✓  project_report.pdf  +  project_report.pptx delivered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6192000"/>
            <a:ext cx="10800000" cy="18000"/>
          </a:xfrm>
          <a:prstGeom prst="rect">
            <a:avLst/>
          </a:prstGeom>
          <a:solidFill>
            <a:srgbClr val="1D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0000" y="6263999"/>
            <a:ext cx="10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dashboard/  ·  app.py  ·  pages/  ·  utils/  ·  student_placement_clean.csv  ·  requirements.txt  ·  README.md  · 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1902</Words>
  <Application>Microsoft Office PowerPoint</Application>
  <PresentationFormat>Custom</PresentationFormat>
  <Paragraphs>302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Mahima jain</cp:lastModifiedBy>
  <cp:revision>1</cp:revision>
  <dcterms:created xsi:type="dcterms:W3CDTF">2013-01-27T09:14:16Z</dcterms:created>
  <dcterms:modified xsi:type="dcterms:W3CDTF">2026-09-23T17:19:17Z</dcterms:modified>
  <cp:category/>
</cp:coreProperties>
</file>